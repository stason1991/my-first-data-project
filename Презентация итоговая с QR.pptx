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9" r:id="rId11"/>
    <p:sldId id="276" r:id="rId12"/>
    <p:sldId id="263" r:id="rId13"/>
    <p:sldId id="264" r:id="rId14"/>
    <p:sldId id="265" r:id="rId15"/>
    <p:sldId id="266" r:id="rId16"/>
    <p:sldId id="267" r:id="rId17"/>
    <p:sldId id="268" r:id="rId18"/>
  </p:sldIdLst>
  <p:sldSz cx="9144000" cy="5143500" type="screen4x3"/>
  <p:notesSz cx="5143500" cy="9144000"/>
  <p:embeddedFontLst>
    <p:embeddedFont>
      <p:font typeface="Inter Medium" charset="0"/>
      <p:regular r:id="rId22"/>
    </p:embeddedFont>
    <p:embeddedFont>
      <p:font typeface="Inter Light" charset="0"/>
      <p:regular r:id="rId23"/>
    </p:embeddedFont>
    <p:embeddedFont>
      <p:font typeface="Inter Thin" charset="0"/>
      <p:regular r:id="rId24"/>
    </p:embeddedFont>
    <p:embeddedFont>
      <p:font typeface="Inter ExtraLight" charset="0"/>
      <p:regular r:id="rId25"/>
    </p:embeddedFont>
    <p:embeddedFont>
      <p:font typeface="Inter SemiBold" charset="0"/>
      <p:regular r:id="rId26"/>
    </p:embeddedFont>
    <p:embeddedFont>
      <p:font typeface="Inter Bold" charset="0"/>
      <p:regular r:id="rId27"/>
    </p:embeddedFont>
    <p:embeddedFont>
      <p:font typeface="Inter ExtraBold" charset="0"/>
      <p:regular r:id="rId28"/>
    </p:embeddedFont>
    <p:embeddedFont>
      <p:font typeface="Inter" charset="0"/>
      <p:regular r:id="rId29"/>
    </p:embeddedFont>
    <p:embeddedFont>
      <p:font typeface="Inter Black" charset="0"/>
      <p:regular r:id="rId30"/>
    </p:embeddedFont>
    <p:embeddedFont>
      <p:font typeface="Montserrat Thin" charset="0"/>
      <p:regular r:id="rId31"/>
    </p:embeddedFont>
    <p:embeddedFont>
      <p:font typeface="Montserrat" charset="0"/>
      <p:regular r:id="rId32"/>
    </p:embeddedFont>
    <p:embeddedFont>
      <p:font typeface="Montserrat SemiBold" charset="0"/>
      <p:regular r:id="rId33"/>
    </p:embeddedFont>
    <p:embeddedFont>
      <p:font typeface="Montserrat Bold" charset="0"/>
      <p:regular r:id="rId34"/>
    </p:embeddedFont>
    <p:embeddedFont>
      <p:font typeface="Montserrat Black" charset="0"/>
      <p:regular r:id="rId35"/>
    </p:embeddedFont>
    <p:embeddedFont>
      <p:font typeface="Montserrat Light" charset="0"/>
      <p:regular r:id="rId36"/>
    </p:embeddedFont>
    <p:embeddedFont>
      <p:font typeface="Montserrat ExtraLight" charset="0"/>
      <p:regular r:id="rId37"/>
    </p:embeddedFont>
    <p:embeddedFont>
      <p:font typeface="Montserrat Medium" charset="0"/>
      <p:regular r:id="rId38"/>
    </p:embeddedFont>
    <p:embeddedFont>
      <p:font typeface="Montserrat ExtraBold" charset="0"/>
      <p:regular r:id="rId3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font" Target="fonts/font18.fntdata"/><Relationship Id="rId38" Type="http://schemas.openxmlformats.org/officeDocument/2006/relationships/font" Target="fonts/font17.fntdata"/><Relationship Id="rId37" Type="http://schemas.openxmlformats.org/officeDocument/2006/relationships/font" Target="fonts/font16.fntdata"/><Relationship Id="rId36" Type="http://schemas.openxmlformats.org/officeDocument/2006/relationships/font" Target="fonts/font15.fntdata"/><Relationship Id="rId35" Type="http://schemas.openxmlformats.org/officeDocument/2006/relationships/font" Target="fonts/font14.fntdata"/><Relationship Id="rId34" Type="http://schemas.openxmlformats.org/officeDocument/2006/relationships/font" Target="fonts/font13.fntdata"/><Relationship Id="rId33" Type="http://schemas.openxmlformats.org/officeDocument/2006/relationships/font" Target="fonts/font12.fntdata"/><Relationship Id="rId32" Type="http://schemas.openxmlformats.org/officeDocument/2006/relationships/font" Target="fonts/font11.fntdata"/><Relationship Id="rId31" Type="http://schemas.openxmlformats.org/officeDocument/2006/relationships/font" Target="fonts/font10.fntdata"/><Relationship Id="rId30" Type="http://schemas.openxmlformats.org/officeDocument/2006/relationships/font" Target="fonts/font9.fntdata"/><Relationship Id="rId3" Type="http://schemas.openxmlformats.org/officeDocument/2006/relationships/slide" Target="slides/slide1.xml"/><Relationship Id="rId29" Type="http://schemas.openxmlformats.org/officeDocument/2006/relationships/font" Target="fonts/font8.fntdata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/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/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/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/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/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x-none" altLang="en-US"/>
              <a:t>В результате инженерии признаков, а именно: восстановления таргета для некгторых классов, удаления мусора, переноса части вакансий в свои классы, а так же удаления признака авто у офисных сотрудников, - мы получили иную структуру важности признаков для XGBoost</a:t>
            </a:r>
            <a:endParaRPr lang="x-none" altLang="en-US"/>
          </a:p>
        </p:txBody>
      </p:sp>
      <p:sp>
        <p:nvSpPr>
          <p:cNvPr id="4" name="Slide Number Placeholder 3"/>
          <p:cNvSpPr/>
          <p:nvPr>
            <p:ph type="sldNum" sz="quarter" idx="5"/>
          </p:nvPr>
        </p:nvSpPr>
        <p:spPr/>
        <p:txBody>
          <a:bodyPr/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/>
          <p:nvPr>
            <p:ph type="subTitle" idx="1"/>
          </p:nvPr>
        </p:nvSpPr>
        <p:spPr>
          <a:xfrm>
            <a:off x="1143000" y="2701529"/>
            <a:ext cx="6858000" cy="124182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90106F6D-FB2C-4A93-B18F-24E90D5C3B6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3.xml"/><Relationship Id="rId6" Type="http://schemas.openxmlformats.org/officeDocument/2006/relationships/tags" Target="../tags/tag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4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970731"/>
            <a:ext cx="4722763" cy="141743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Интеллектуальная система </a:t>
            </a:r>
            <a:endParaRPr lang="en-US" sz="2200" dirty="0">
              <a:solidFill>
                <a:srgbClr val="74767D"/>
              </a:solidFill>
              <a:latin typeface="Montserrat Medium" pitchFamily="34" charset="0"/>
              <a:ea typeface="Montserrat Medium" pitchFamily="34" charset="0"/>
              <a:cs typeface="Montserrat Medium" pitchFamily="34" charset="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прогнозирования медианы </a:t>
            </a:r>
            <a:endParaRPr lang="en-US" sz="2200" dirty="0">
              <a:solidFill>
                <a:srgbClr val="74767D"/>
              </a:solidFill>
              <a:latin typeface="Montserrat Medium" pitchFamily="34" charset="0"/>
              <a:ea typeface="Montserrat Medium" pitchFamily="34" charset="0"/>
              <a:cs typeface="Montserrat Medium" pitchFamily="34" charset="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зарплатных офферов в банковском секторе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2600771"/>
            <a:ext cx="4722763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Веб-сервис, трансформирующий текст резюме через PCA-сжатие и </a:t>
            </a:r>
            <a:endParaRPr lang="en-US" sz="1100" dirty="0">
              <a:solidFill>
                <a:srgbClr val="3D3E44"/>
              </a:solidFill>
              <a:latin typeface="Inter Light" pitchFamily="34" charset="0"/>
              <a:ea typeface="Inter Light" pitchFamily="34" charset="0"/>
              <a:cs typeface="Inter Light" pitchFamily="34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интерактивные чек-боксы для мгновенного расчета справедливого </a:t>
            </a:r>
            <a:endParaRPr lang="en-US" sz="1100" dirty="0">
              <a:solidFill>
                <a:srgbClr val="3D3E44"/>
              </a:solidFill>
              <a:latin typeface="Inter Light" pitchFamily="34" charset="0"/>
              <a:ea typeface="Inter Light" pitchFamily="34" charset="0"/>
              <a:cs typeface="Inter Light" pitchFamily="34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оклада кандидатов.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440683"/>
            <a:ext cx="4722763" cy="345728"/>
          </a:xfrm>
          <a:prstGeom prst="roundRect">
            <a:avLst>
              <a:gd name="adj" fmla="val 29524"/>
            </a:avLst>
          </a:prstGeom>
          <a:noFill/>
          <a:ln w="4763">
            <a:solidFill>
              <a:srgbClr val="C6C9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1174" y="3483173"/>
            <a:ext cx="4552652" cy="26074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C6C9DC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АВТОР: СТАНИСЛАВ, ГЛАВНЫЙ КЛИЕНТСКИЙ МЕНЕДЖЕР РОЗНИЧНОГО БИЗНЕСА </a:t>
            </a:r>
            <a:endParaRPr lang="en-US" sz="850" dirty="0">
              <a:solidFill>
                <a:srgbClr val="C6C9DC"/>
              </a:solidFill>
              <a:latin typeface="Inter Light" pitchFamily="34" charset="0"/>
              <a:ea typeface="Inter Light" pitchFamily="34" charset="0"/>
              <a:cs typeface="Inter Light" pitchFamily="34" charset="0"/>
            </a:endParaRPr>
          </a:p>
          <a:p>
            <a:pPr marL="0" indent="0" algn="l">
              <a:lnSpc>
                <a:spcPct val="96000"/>
              </a:lnSpc>
              <a:buNone/>
            </a:pPr>
            <a:r>
              <a:rPr lang="x-none" altLang="en-US" sz="850" dirty="0">
                <a:solidFill>
                  <a:srgbClr val="C6C9DC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ПАО </a:t>
            </a:r>
            <a:r>
              <a:rPr lang="en-US" sz="850" dirty="0">
                <a:solidFill>
                  <a:srgbClr val="C6C9DC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ВТБ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96119" y="3945880"/>
            <a:ext cx="5179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0131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Проблема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5935" y="1200785"/>
            <a:ext cx="8151495" cy="8223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"Трачу более 30 минут на ручной анализ компетенций по тексту резюме</a:t>
            </a:r>
            <a:r>
              <a:rPr lang="x-none" alt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, а затем наполнение чек-листов по результатам собеседования</a:t>
            </a:r>
            <a:r>
              <a:rPr 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.  </a:t>
            </a:r>
            <a:r>
              <a:rPr lang="x-none" alt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Суб</a:t>
            </a:r>
            <a:r>
              <a:rPr 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ъективная оценка навыков несет риски: мы </a:t>
            </a:r>
            <a:r>
              <a:rPr lang="x-none" alt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либо зав</a:t>
            </a:r>
            <a:r>
              <a:rPr 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ышаем оклад кандидату, чей реальный опыт не оправдает ожиданий, либо </a:t>
            </a:r>
            <a:r>
              <a:rPr lang="x-none" alt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н</a:t>
            </a:r>
            <a:r>
              <a:rPr 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едоплачиваем и упускаем сильного сотрудника"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6119" y="2069678"/>
            <a:ext cx="815176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Риск переплаты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943151"/>
            <a:ext cx="815176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Риск недоплаты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96119" y="3798912"/>
            <a:ext cx="8151763" cy="19050"/>
          </a:xfrm>
          <a:prstGeom prst="roundRect">
            <a:avLst>
              <a:gd name="adj" fmla="val 60000"/>
            </a:avLst>
          </a:prstGeom>
          <a:solidFill>
            <a:srgbClr val="3D3E44">
              <a:alpha val="5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496754" y="3937288"/>
            <a:ext cx="8151763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D3E44"/>
                </a:solidFill>
                <a:latin typeface="Inter Bold" pitchFamily="34" charset="0"/>
                <a:ea typeface="Inter Bold" pitchFamily="34" charset="0"/>
                <a:cs typeface="Inter Bold" pitchFamily="34" charset="0"/>
              </a:rPr>
              <a:t>JTBD: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 КОГДА открывается </a:t>
            </a:r>
            <a:r>
              <a:rPr lang="x-none" alt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вакансия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 → ХОЧУ мгновенно узнать объективную стоимость </a:t>
            </a:r>
            <a:r>
              <a:rPr lang="x-none" alt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на</a:t>
            </a:r>
            <a:r>
              <a:rPr lang="x-none" alt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бо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ра навыков кандидата →</a:t>
            </a:r>
            <a:endParaRPr lang="en-US" sz="1100" dirty="0">
              <a:solidFill>
                <a:srgbClr val="3D3E44"/>
              </a:solidFill>
              <a:latin typeface="Inter Light" pitchFamily="34" charset="0"/>
              <a:ea typeface="Inter Light" pitchFamily="34" charset="0"/>
              <a:cs typeface="Inter Light" pitchFamily="34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 ЧТОБЫ утвердить справедливый оффер у </a:t>
            </a:r>
            <a:r>
              <a:rPr lang="x-none" alt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р</a:t>
            </a:r>
            <a:r>
              <a:rPr lang="x-none" alt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уководства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 и защитить ФОТ банка от издержек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495935" y="3164840"/>
            <a:ext cx="8608695" cy="226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Субъективное занижение стоимости сильного набора навыков → отказ соискателя от оффера</a:t>
            </a:r>
            <a:endParaRPr lang="en-US" sz="1100" dirty="0"/>
          </a:p>
        </p:txBody>
      </p:sp>
      <p:sp>
        <p:nvSpPr>
          <p:cNvPr id="11" name="Text 3"/>
          <p:cNvSpPr/>
          <p:nvPr/>
        </p:nvSpPr>
        <p:spPr>
          <a:xfrm>
            <a:off x="495935" y="2291080"/>
            <a:ext cx="8608695" cy="369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Переплата за «красивое» описание опыта при слабых компетенциях → финансовые потери банка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56221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Целевая аудитория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82725"/>
            <a:ext cx="8608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Переход от субъективного анализа к автоматизированному расчету стоимости навыков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23240" y="2068830"/>
            <a:ext cx="7764780" cy="2118360"/>
          </a:xfrm>
          <a:prstGeom prst="roundRect">
            <a:avLst>
              <a:gd name="adj" fmla="val 6024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832" y="2306335"/>
            <a:ext cx="2329681" cy="5316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Руководители офисов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32832" y="2762984"/>
            <a:ext cx="2329681" cy="7300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Проводят интервью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Утверждают </a:t>
            </a:r>
            <a:r>
              <a:rPr lang="x-none" alt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кандидата</a:t>
            </a:r>
            <a:endParaRPr lang="x-none" altLang="en-US" sz="1100" dirty="0">
              <a:solidFill>
                <a:srgbClr val="3D3E44"/>
              </a:solidFill>
              <a:latin typeface="Inter Light" pitchFamily="34" charset="0"/>
              <a:ea typeface="Inter Light" pitchFamily="34" charset="0"/>
              <a:cs typeface="Inter Light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23032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Рынок и конкуренты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22722"/>
            <a:ext cx="8151763" cy="70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Существующие инструменты заставляют выбирать между </a:t>
            </a:r>
            <a:endParaRPr lang="en-US" sz="2200" dirty="0">
              <a:solidFill>
                <a:srgbClr val="74767D"/>
              </a:solidFill>
              <a:latin typeface="Montserrat Medium" pitchFamily="34" charset="0"/>
              <a:ea typeface="Montserrat Medium" pitchFamily="34" charset="0"/>
              <a:cs typeface="Montserrat Medium" pitchFamily="34" charset="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скоростью найма и точностью оценки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95935" y="2343785"/>
            <a:ext cx="8151495" cy="2322830"/>
          </a:xfrm>
          <a:prstGeom prst="roundRect">
            <a:avLst>
              <a:gd name="adj" fmla="val 680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2757636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496119" y="3395663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496119" y="3806875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642789" y="2438623"/>
            <a:ext cx="2209205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Инструмент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78311" y="2438623"/>
            <a:ext cx="1394966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Точность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99595" y="2438623"/>
            <a:ext cx="5058966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Описание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2789" y="2849835"/>
            <a:ext cx="2209205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hh.ru / Zarplata.ru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78311" y="2849835"/>
            <a:ext cx="1394966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~65%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99595" y="2849835"/>
            <a:ext cx="4601766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Слепы к реальному набору навыков по тексту, оценивают только по </a:t>
            </a:r>
            <a:endParaRPr lang="en-US" sz="1100" dirty="0">
              <a:solidFill>
                <a:srgbClr val="3D3E44"/>
              </a:solidFill>
              <a:latin typeface="Inter Light" pitchFamily="34" charset="0"/>
              <a:ea typeface="Inter Light" pitchFamily="34" charset="0"/>
              <a:cs typeface="Inter Light" pitchFamily="34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названию должности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2789" y="3487862"/>
            <a:ext cx="2209205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StartExam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78311" y="3487862"/>
            <a:ext cx="1394966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~85%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99595" y="3487862"/>
            <a:ext cx="5058966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Высокие издержки, соискатель тратит более часа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2620" y="3898900"/>
            <a:ext cx="2209165" cy="607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x-none" altLang="en-US" sz="1100" dirty="0"/>
              <a:t>Интеллектуальная система </a:t>
            </a:r>
            <a:endParaRPr lang="x-none" alt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x-none" altLang="en-US" sz="1100" dirty="0"/>
              <a:t>прогнозирования зарплатных </a:t>
            </a:r>
            <a:endParaRPr lang="x-none" alt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x-none" altLang="en-US" sz="1100" dirty="0"/>
              <a:t>офферов в банковском секторе</a:t>
            </a:r>
            <a:endParaRPr lang="x-none" alt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78311" y="3899074"/>
            <a:ext cx="1394966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78.</a:t>
            </a:r>
            <a:r>
              <a:rPr lang="x-none" alt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3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99595" y="3899074"/>
            <a:ext cx="5058966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Пассивный скоринг готового резюме за </a:t>
            </a:r>
            <a:r>
              <a:rPr lang="x-none" alt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20 секунд</a:t>
            </a:r>
            <a:endParaRPr lang="x-none" altLang="en-US" sz="1100" dirty="0">
              <a:solidFill>
                <a:srgbClr val="3D3E44"/>
              </a:solidFill>
              <a:latin typeface="Inter Light" pitchFamily="34" charset="0"/>
              <a:ea typeface="Inter Light" pitchFamily="34" charset="0"/>
              <a:cs typeface="Inter Light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1099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Продукт и работа сервиса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50789"/>
            <a:ext cx="8151763" cy="70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x-none" altLang="en-US" sz="2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Интеллектуальный</a:t>
            </a:r>
            <a:r>
              <a:rPr lang="en-US" sz="2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 </a:t>
            </a:r>
            <a:r>
              <a:rPr lang="x-none" altLang="en-US" sz="2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веб-</a:t>
            </a:r>
            <a:r>
              <a:rPr lang="en-US" sz="2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сервис, рассчитывающий справедливую зарплату по </a:t>
            </a:r>
            <a:endParaRPr lang="en-US" sz="2200" dirty="0">
              <a:solidFill>
                <a:srgbClr val="74767D"/>
              </a:solidFill>
              <a:latin typeface="Montserrat Medium" pitchFamily="34" charset="0"/>
              <a:ea typeface="Montserrat Medium" pitchFamily="34" charset="0"/>
              <a:cs typeface="Montserrat Medium" pitchFamily="34" charset="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тексту резюме </a:t>
            </a:r>
            <a:r>
              <a:rPr lang="x-none" altLang="en-US" sz="2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и чек-боксам характеристик кандидата</a:t>
            </a:r>
            <a:endParaRPr lang="x-none" altLang="en-US" sz="2200" dirty="0">
              <a:solidFill>
                <a:srgbClr val="74767D"/>
              </a:solidFill>
              <a:latin typeface="Montserrat Medium" pitchFamily="34" charset="0"/>
              <a:ea typeface="Montserrat Medium" pitchFamily="34" charset="0"/>
              <a:cs typeface="Montserrat Medium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6119" y="2472110"/>
            <a:ext cx="4004965" cy="1620217"/>
          </a:xfrm>
          <a:prstGeom prst="roundRect">
            <a:avLst>
              <a:gd name="adj" fmla="val 7875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2640" y="2618631"/>
            <a:ext cx="425276" cy="425276"/>
          </a:xfrm>
          <a:prstGeom prst="ellipse">
            <a:avLst/>
          </a:prstGeom>
          <a:solidFill>
            <a:srgbClr val="888888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619" y="2735535"/>
            <a:ext cx="191319" cy="1913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2640" y="3185666"/>
            <a:ext cx="37119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Текстовое ядро (NLP)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2640" y="3492178"/>
            <a:ext cx="3711922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Окно загрузки текста резюме с фоновым PCA-сжатием </a:t>
            </a:r>
            <a:endParaRPr lang="en-US" sz="1100" dirty="0">
              <a:solidFill>
                <a:srgbClr val="3D3E44"/>
              </a:solidFill>
              <a:latin typeface="Inter Light" pitchFamily="34" charset="0"/>
              <a:ea typeface="Inter Light" pitchFamily="34" charset="0"/>
              <a:cs typeface="Inter Light" pitchFamily="34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контекста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42842" y="2472110"/>
            <a:ext cx="4005039" cy="1620217"/>
          </a:xfrm>
          <a:prstGeom prst="roundRect">
            <a:avLst>
              <a:gd name="adj" fmla="val 7875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89363" y="2618631"/>
            <a:ext cx="425276" cy="425276"/>
          </a:xfrm>
          <a:prstGeom prst="ellipse">
            <a:avLst/>
          </a:prstGeom>
          <a:solidFill>
            <a:srgbClr val="888888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342" y="2735535"/>
            <a:ext cx="191319" cy="1913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89363" y="3185666"/>
            <a:ext cx="371199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Интерактивные фильтры (Чек-боксы)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789363" y="3492178"/>
            <a:ext cx="371199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6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Точечная ручная калибровка Hard, Soft</a:t>
            </a:r>
            <a:r>
              <a:rPr lang="x-none" alt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,</a:t>
            </a:r>
            <a:endParaRPr lang="x-none" altLang="en-US" sz="1100" dirty="0">
              <a:solidFill>
                <a:srgbClr val="3D3E44"/>
              </a:solidFill>
              <a:latin typeface="Inter Light" pitchFamily="34" charset="0"/>
              <a:ea typeface="Inter Light" pitchFamily="34" charset="0"/>
              <a:cs typeface="Inter Light" pitchFamily="34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Business-скиллов</a:t>
            </a:r>
            <a:r>
              <a:rPr lang="x-none" alt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, а так же уровня образования, наличия авто</a:t>
            </a:r>
            <a:endParaRPr lang="x-none" altLang="en-US" sz="1100" dirty="0">
              <a:solidFill>
                <a:srgbClr val="3D3E44"/>
              </a:solidFill>
              <a:latin typeface="Inter Light" pitchFamily="34" charset="0"/>
              <a:ea typeface="Inter Light" pitchFamily="34" charset="0"/>
              <a:cs typeface="Inter Light" pitchFamily="34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x-none" alt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и формата работы</a:t>
            </a:r>
            <a:endParaRPr lang="x-none" altLang="en-US" sz="1100" dirty="0">
              <a:solidFill>
                <a:srgbClr val="3D3E44"/>
              </a:solidFill>
              <a:latin typeface="Inter Light" pitchFamily="34" charset="0"/>
              <a:ea typeface="Inter Light" pitchFamily="34" charset="0"/>
              <a:cs typeface="Inter Light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7225"/>
            <a:ext cx="8151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Технологическое решение и ключевые метрики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99902"/>
            <a:ext cx="8151763" cy="70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Логический пре-процессинг текста и байесовская </a:t>
            </a:r>
            <a:endParaRPr lang="en-US" sz="2200" dirty="0">
              <a:solidFill>
                <a:srgbClr val="74767D"/>
              </a:solidFill>
              <a:latin typeface="Montserrat Medium" pitchFamily="34" charset="0"/>
              <a:ea typeface="Montserrat Medium" pitchFamily="34" charset="0"/>
              <a:cs typeface="Montserrat Medium" pitchFamily="34" charset="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оптимизация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96119" y="2662982"/>
            <a:ext cx="390294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Математика данных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3026197"/>
            <a:ext cx="3902943" cy="14104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Парсинг и калибровка вилок (parse_html_salary): </a:t>
            </a:r>
            <a:endParaRPr lang="en-US" sz="1100" dirty="0">
              <a:solidFill>
                <a:srgbClr val="3D3E44"/>
              </a:solidFill>
              <a:latin typeface="Inter Light" pitchFamily="34" charset="0"/>
              <a:ea typeface="Inter Light" pitchFamily="34" charset="0"/>
              <a:cs typeface="Inter Light" pitchFamily="34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Восстановление y_offer на основе рыночных 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коэффициентов 1.15 и 0.85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Векторизация: Трансформация текста через RuBERT-tiny + PCA-сжатие до 3 ключевых компонент (text_pca_1, 2, 3)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2662982"/>
            <a:ext cx="3902943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Сводный отчет кросс-валидации (5-Fold StratifiedKFold)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3247653"/>
            <a:ext cx="3902943" cy="10348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Linear Regression (Baseline, 77 фичей): MAE = 50 5</a:t>
            </a:r>
            <a:r>
              <a:rPr lang="x-none" alt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57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 руб. | MAPE = 35.3%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XGBoost + Optuna (60 фичей): MAE = 3</a:t>
            </a:r>
            <a:r>
              <a:rPr lang="x-none" alt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2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 </a:t>
            </a:r>
            <a:r>
              <a:rPr lang="x-none" alt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673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 руб. | MAPE = 21.</a:t>
            </a:r>
            <a:r>
              <a:rPr lang="x-none" alt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7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%. Сокращение ошибки на </a:t>
            </a:r>
            <a:r>
              <a:rPr lang="x-none" alt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13,6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%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0039"/>
            <a:ext cx="8151763" cy="415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Пайплайн проекта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895127"/>
            <a:ext cx="8151763" cy="66451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Монолитный изолированный конвейер обработки данных от HTML до финальной модели</a:t>
            </a:r>
            <a:endParaRPr lang="en-US" sz="2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46498"/>
            <a:ext cx="4075881" cy="5316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9022" y="2402681"/>
            <a:ext cx="3810074" cy="2076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Источник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29022" y="2685083"/>
            <a:ext cx="3810074" cy="4119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Чтение сырых логов вакансий банковского сектора (6 000+ </a:t>
            </a:r>
            <a:r>
              <a:rPr lang="x-none" alt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стр.)</a:t>
            </a:r>
            <a:endParaRPr lang="x-none" altLang="en-US" sz="1000" dirty="0">
              <a:solidFill>
                <a:srgbClr val="3D3E44"/>
              </a:solidFill>
              <a:latin typeface="Inter Light" pitchFamily="34" charset="0"/>
              <a:ea typeface="Inter Light" pitchFamily="34" charset="0"/>
              <a:cs typeface="Inter Light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46498"/>
            <a:ext cx="4075881" cy="5316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04904" y="2402681"/>
            <a:ext cx="3810074" cy="2076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Очистка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704904" y="2685083"/>
            <a:ext cx="3810074" cy="4119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Фильтрация небанковского мусора по регулярным выражениям</a:t>
            </a:r>
            <a:r>
              <a:rPr lang="x-none" alt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,</a:t>
            </a:r>
            <a:endParaRPr lang="x-none" altLang="en-US" sz="1000" dirty="0">
              <a:solidFill>
                <a:srgbClr val="3D3E44"/>
              </a:solidFill>
              <a:latin typeface="Inter Light" pitchFamily="34" charset="0"/>
              <a:ea typeface="Inter Light" pitchFamily="34" charset="0"/>
              <a:cs typeface="Inter Light" pitchFamily="34" charset="0"/>
            </a:endParaRPr>
          </a:p>
          <a:p>
            <a:pPr marL="0" indent="0" algn="l">
              <a:lnSpc>
                <a:spcPct val="129000"/>
              </a:lnSpc>
              <a:buNone/>
            </a:pPr>
            <a:r>
              <a:rPr lang="x-none" alt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удаление вакансий без указания зарплаты</a:t>
            </a:r>
            <a:endParaRPr lang="x-none" altLang="en-US" sz="1000" dirty="0">
              <a:solidFill>
                <a:srgbClr val="3D3E44"/>
              </a:solidFill>
              <a:latin typeface="Inter Light" pitchFamily="34" charset="0"/>
              <a:ea typeface="Inter Light" pitchFamily="34" charset="0"/>
              <a:cs typeface="Inter Light" pitchFamily="34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3229942"/>
            <a:ext cx="4075881" cy="53161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9022" y="3886126"/>
            <a:ext cx="3810074" cy="2076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Стабилизация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29022" y="4168527"/>
            <a:ext cx="3810074" cy="4119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Фильтр по объему классов (N ≥ 30) → 1 564 очищенные строки в 16 стабильных классах </a:t>
            </a:r>
            <a:endParaRPr lang="en-US" sz="1000" dirty="0">
              <a:solidFill>
                <a:srgbClr val="3D3E44"/>
              </a:solidFill>
              <a:latin typeface="Inter Light" pitchFamily="34" charset="0"/>
              <a:ea typeface="Inter Light" pitchFamily="34" charset="0"/>
              <a:cs typeface="Inter Light" pitchFamily="34" charset="0"/>
            </a:endParaRPr>
          </a:p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рынка</a:t>
            </a:r>
            <a:r>
              <a:rPr lang="x-none" alt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, перенос вакансий в свои классы, обнуление признака авто для офисного персонала, восстановление грейда по названию</a:t>
            </a:r>
            <a:endParaRPr lang="x-none" altLang="en-US" sz="1000" dirty="0">
              <a:solidFill>
                <a:srgbClr val="3D3E44"/>
              </a:solidFill>
              <a:latin typeface="Inter Light" pitchFamily="34" charset="0"/>
              <a:ea typeface="Inter Light" pitchFamily="34" charset="0"/>
              <a:cs typeface="Inter Light" pitchFamily="34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229942"/>
            <a:ext cx="4075881" cy="53161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704904" y="3886126"/>
            <a:ext cx="3810074" cy="2076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Векторизация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4704904" y="4168527"/>
            <a:ext cx="3810074" cy="4119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Формирование матрицы X_boost (60 </a:t>
            </a:r>
            <a:r>
              <a:rPr lang="x-none" alt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признаков)</a:t>
            </a:r>
            <a:r>
              <a:rPr 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 и X_linear (77 </a:t>
            </a:r>
            <a:endParaRPr lang="en-US" sz="1000" dirty="0">
              <a:solidFill>
                <a:srgbClr val="3D3E44"/>
              </a:solidFill>
              <a:latin typeface="Inter Light" pitchFamily="34" charset="0"/>
              <a:ea typeface="Inter Light" pitchFamily="34" charset="0"/>
              <a:cs typeface="Inter Light" pitchFamily="34" charset="0"/>
            </a:endParaRPr>
          </a:p>
          <a:p>
            <a:pPr marL="0" indent="0" algn="l">
              <a:lnSpc>
                <a:spcPct val="129000"/>
              </a:lnSpc>
              <a:buNone/>
            </a:pPr>
            <a:r>
              <a:rPr lang="x-none" alt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признаков</a:t>
            </a:r>
            <a:r>
              <a:rPr 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/>
          <p:nvPr>
            <p:ph type="ctrTitle"/>
            <p:custDataLst>
              <p:tags r:id="rId1"/>
            </p:custDataLst>
          </p:nvPr>
        </p:nvSpPr>
        <p:spPr>
          <a:xfrm>
            <a:off x="1548130" y="-401955"/>
            <a:ext cx="6047740" cy="1958340"/>
          </a:xfrm>
        </p:spPr>
        <p:txBody>
          <a:bodyPr/>
          <a:lstStyle/>
          <a:p>
            <a:pPr algn="ctr" fontAlgn="auto"/>
            <a:r>
              <a:rPr lang="x-none" altLang="zh-CN" smtClean="0">
                <a:solidFill>
                  <a:schemeClr val="tx1"/>
                </a:solidFill>
              </a:rPr>
              <a:t>Данные и результаты EDA</a:t>
            </a:r>
            <a:endParaRPr lang="x-none" altLang="zh-CN" smtClean="0">
              <a:solidFill>
                <a:schemeClr val="tx1"/>
              </a:solidFill>
            </a:endParaRPr>
          </a:p>
        </p:txBody>
      </p:sp>
      <p:pic>
        <p:nvPicPr>
          <p:cNvPr id="2" name="Рисунок 1" descr="2026-07-25 20:05:50.9320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95" y="1471295"/>
            <a:ext cx="4147185" cy="1613535"/>
          </a:xfrm>
          <a:prstGeom prst="rect">
            <a:avLst/>
          </a:prstGeom>
        </p:spPr>
      </p:pic>
      <p:pic>
        <p:nvPicPr>
          <p:cNvPr id="3" name="Рисунок 2" descr="2026-07-25 20:07:52.4250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95" y="3187700"/>
            <a:ext cx="4116070" cy="1870075"/>
          </a:xfrm>
          <a:prstGeom prst="rect">
            <a:avLst/>
          </a:prstGeom>
        </p:spPr>
      </p:pic>
      <p:pic>
        <p:nvPicPr>
          <p:cNvPr id="6" name="Рисунок 5" descr="2026-07-25 20:09:09.8060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820" y="3162935"/>
            <a:ext cx="4100195" cy="1823720"/>
          </a:xfrm>
          <a:prstGeom prst="rect">
            <a:avLst/>
          </a:prstGeom>
        </p:spPr>
      </p:pic>
      <p:pic>
        <p:nvPicPr>
          <p:cNvPr id="5" name="Рисунок 4" descr="2026-07-26 12:41:17.7020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5820" y="1471295"/>
            <a:ext cx="3906520" cy="159512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/>
          <p:nvPr>
            <p:ph type="ctrTitle"/>
            <p:custDataLst>
              <p:tags r:id="rId1"/>
            </p:custDataLst>
          </p:nvPr>
        </p:nvSpPr>
        <p:spPr>
          <a:xfrm>
            <a:off x="1143000" y="-467360"/>
            <a:ext cx="6858000" cy="1981200"/>
          </a:xfrm>
        </p:spPr>
        <p:txBody>
          <a:bodyPr/>
          <a:lstStyle/>
          <a:p>
            <a:pPr algn="ctr" fontAlgn="auto"/>
            <a:r>
              <a:rPr lang="x-none" altLang="zh-CN" smtClean="0">
                <a:solidFill>
                  <a:schemeClr val="tx1"/>
                </a:solidFill>
              </a:rPr>
              <a:t>Данные и результаты</a:t>
            </a:r>
            <a:br>
              <a:rPr lang="x-none" altLang="zh-CN" smtClean="0">
                <a:solidFill>
                  <a:schemeClr val="tx1"/>
                </a:solidFill>
              </a:rPr>
            </a:br>
            <a:r>
              <a:rPr lang="x-none" altLang="zh-CN" smtClean="0">
                <a:solidFill>
                  <a:schemeClr val="tx1"/>
                </a:solidFill>
              </a:rPr>
              <a:t>EDA</a:t>
            </a:r>
            <a:endParaRPr lang="x-none" altLang="zh-CN" smtClean="0">
              <a:solidFill>
                <a:schemeClr val="tx1"/>
              </a:solidFill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378460" y="1513840"/>
            <a:ext cx="8387080" cy="457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>
              <a:lnSpc>
                <a:spcPct val="100000"/>
              </a:lnSpc>
            </a:pPr>
            <a:r>
              <a:rPr lang="x-none" altLang="en-US" sz="800"/>
              <a:t>В результате инженерии признаков, а именно: восстановления таргета класса 21, удаления мусорных вакансий, не относящихся к банковской сфере, переноса некоторых вакансий в родные классы, удаления признака авто у части офисных сотрудников, а так же отказа от глубоких деревьев и применения Optuna, - мы получили совершенно иную картну важности признаков для  итоговой модели XGBoost.</a:t>
            </a:r>
            <a:endParaRPr lang="x-none" altLang="en-US" sz="800"/>
          </a:p>
        </p:txBody>
      </p:sp>
      <p:pic>
        <p:nvPicPr>
          <p:cNvPr id="2" name="Рисунок 1" descr="2026-07-26 12:46:54.1390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85" y="2256790"/>
            <a:ext cx="4224655" cy="2628900"/>
          </a:xfrm>
          <a:prstGeom prst="rect">
            <a:avLst/>
          </a:prstGeom>
        </p:spPr>
      </p:pic>
      <p:pic>
        <p:nvPicPr>
          <p:cNvPr id="3" name="Рисунок 2" descr="/private/var/mobile/Containers/Data/Application/BF12C028-76EF-493B-935C-B6546587A231/tmp/insert_image_tmp_dir/2026-07-29 14:01:53.249000.png2026-07-29 14:01:53.24900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773930" y="2256790"/>
            <a:ext cx="3994150" cy="26219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7665"/>
            <a:ext cx="8151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Применение AI: инструменты и </a:t>
            </a:r>
            <a:endParaRPr lang="en-US" sz="2750" dirty="0">
              <a:solidFill>
                <a:srgbClr val="74767D"/>
              </a:solidFill>
              <a:latin typeface="Montserrat Medium" pitchFamily="34" charset="0"/>
              <a:ea typeface="Montserrat Medium" pitchFamily="34" charset="0"/>
              <a:cs typeface="Montserrat Medium" pitchFamily="34" charset="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интерпретируемость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50343"/>
            <a:ext cx="8151763" cy="70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Симбиоз генеративного ИИ, языковых NLP-моделей и AutoML на этапах CRISP-DM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96119" y="2613422"/>
            <a:ext cx="390294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Экосистема ИИ: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976637"/>
            <a:ext cx="3902943" cy="15095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x-none" alt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Gemini (LLM от Google)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: Анализ конкурентов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RuBERT-tiny + PCA: Извлечение латентного текстового контекст</a:t>
            </a:r>
            <a:r>
              <a:rPr lang="x-none" alt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а</a:t>
            </a:r>
            <a:endParaRPr lang="x-none" altLang="en-US" sz="1100" dirty="0">
              <a:solidFill>
                <a:srgbClr val="3D3E44"/>
              </a:solidFill>
              <a:latin typeface="Inter Light" pitchFamily="34" charset="0"/>
              <a:ea typeface="Inter Light" pitchFamily="34" charset="0"/>
              <a:cs typeface="Inter Light" pitchFamily="34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Agent Gamma: оформление итоговой презентации</a:t>
            </a:r>
            <a:endParaRPr lang="en-US" sz="1100" dirty="0"/>
          </a:p>
        </p:txBody>
      </p:sp>
      <p:pic>
        <p:nvPicPr>
          <p:cNvPr id="8" name="Рисунок 7" descr="2026-07-25 19:48:54.890000"/>
          <p:cNvPicPr>
            <a:picLocks noChangeAspect="1"/>
          </p:cNvPicPr>
          <p:nvPr/>
        </p:nvPicPr>
        <p:blipFill>
          <a:blip r:embed="rId1"/>
          <a:srcRect l="18034" t="18267" r="16258" b="16268"/>
          <a:stretch>
            <a:fillRect/>
          </a:stretch>
        </p:blipFill>
        <p:spPr>
          <a:xfrm>
            <a:off x="5570855" y="1908810"/>
            <a:ext cx="2573655" cy="28352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221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0" y="0"/>
            <a:ext cx="3429000" cy="2333625"/>
          </a:xfrm>
          <a:prstGeom prst="rect">
            <a:avLst/>
          </a:prstGeom>
          <a:solidFill>
            <a:srgbClr val="DFDFE0"/>
          </a:solidFill>
        </p:spPr>
      </p:sp>
      <p:sp>
        <p:nvSpPr>
          <p:cNvPr id="5" name="Shape 1"/>
          <p:cNvSpPr/>
          <p:nvPr/>
        </p:nvSpPr>
        <p:spPr>
          <a:xfrm>
            <a:off x="5791200" y="76200"/>
            <a:ext cx="1144935" cy="95250"/>
          </a:xfrm>
          <a:prstGeom prst="roundRect">
            <a:avLst>
              <a:gd name="adj" fmla="val 36000"/>
            </a:avLst>
          </a:prstGeom>
          <a:solidFill>
            <a:srgbClr val="FEE2E2"/>
          </a:solidFill>
        </p:spPr>
      </p:sp>
      <p:sp>
        <p:nvSpPr>
          <p:cNvPr id="6" name="Text 2"/>
          <p:cNvSpPr/>
          <p:nvPr/>
        </p:nvSpPr>
        <p:spPr>
          <a:xfrm>
            <a:off x="5829300" y="88329"/>
            <a:ext cx="1525935" cy="709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991B1B"/>
                </a:solidFill>
                <a:latin typeface="PPMori" pitchFamily="34" charset="0"/>
                <a:ea typeface="PPMori" pitchFamily="34" charset="0"/>
                <a:cs typeface="PPMori" pitchFamily="34" charset="0"/>
              </a:rPr>
              <a:t> Ошибка при загрузке изображения.</a:t>
            </a:r>
            <a:endParaRPr lang="en-US" sz="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88329"/>
            <a:ext cx="57150" cy="571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6119" y="423639"/>
            <a:ext cx="4722763" cy="4291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Демо MVP</a:t>
            </a:r>
            <a:endParaRPr lang="en-US" sz="2700" dirty="0"/>
          </a:p>
        </p:txBody>
      </p:sp>
      <p:sp>
        <p:nvSpPr>
          <p:cNvPr id="9" name="Text 4"/>
          <p:cNvSpPr/>
          <p:nvPr/>
        </p:nvSpPr>
        <p:spPr>
          <a:xfrm>
            <a:off x="496119" y="905991"/>
            <a:ext cx="4722763" cy="10298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Готовый интерфейс Streamlit для </a:t>
            </a:r>
            <a:endParaRPr lang="en-US" sz="2150" dirty="0">
              <a:solidFill>
                <a:srgbClr val="74767D"/>
              </a:solidFill>
              <a:latin typeface="Montserrat Medium" pitchFamily="34" charset="0"/>
              <a:ea typeface="Montserrat Medium" pitchFamily="34" charset="0"/>
              <a:cs typeface="Montserrat Medium" pitchFamily="34" charset="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мгновенной оценки кандидатов</a:t>
            </a:r>
            <a:endParaRPr lang="en-US" sz="2150" dirty="0"/>
          </a:p>
        </p:txBody>
      </p:sp>
      <p:sp>
        <p:nvSpPr>
          <p:cNvPr id="10" name="Text 5"/>
          <p:cNvSpPr/>
          <p:nvPr/>
        </p:nvSpPr>
        <p:spPr>
          <a:xfrm>
            <a:off x="496119" y="2116897"/>
            <a:ext cx="5179963" cy="2163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Три шага интерактивного сценария: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496119" y="2501280"/>
            <a:ext cx="274662" cy="17159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Montserrat Light" pitchFamily="34" charset="0"/>
                <a:ea typeface="Montserrat Light" pitchFamily="34" charset="0"/>
                <a:cs typeface="Montserrat Light" pitchFamily="34" charset="0"/>
              </a:rPr>
              <a:t>01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496119" y="2715592"/>
            <a:ext cx="2294855" cy="19050"/>
          </a:xfrm>
          <a:prstGeom prst="rect">
            <a:avLst/>
          </a:prstGeom>
          <a:solidFill>
            <a:srgbClr val="888888"/>
          </a:solidFill>
        </p:spPr>
      </p:sp>
      <p:sp>
        <p:nvSpPr>
          <p:cNvPr id="13" name="Text 8"/>
          <p:cNvSpPr/>
          <p:nvPr/>
        </p:nvSpPr>
        <p:spPr>
          <a:xfrm>
            <a:off x="496119" y="2822302"/>
            <a:ext cx="2294855" cy="2145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Ввод данных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96119" y="3116610"/>
            <a:ext cx="2294855" cy="4326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Руководитель вставляет текст </a:t>
            </a:r>
            <a:endParaRPr lang="en-US" sz="1050" dirty="0">
              <a:solidFill>
                <a:srgbClr val="3D3E44"/>
              </a:solidFill>
              <a:latin typeface="Inter Light" pitchFamily="34" charset="0"/>
              <a:ea typeface="Inter Light" pitchFamily="34" charset="0"/>
              <a:cs typeface="Inter Light" pitchFamily="34" charset="0"/>
            </a:endParaRPr>
          </a:p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резюме в диалоговое окно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2923952" y="2501280"/>
            <a:ext cx="274662" cy="17159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Montserrat Light" pitchFamily="34" charset="0"/>
                <a:ea typeface="Montserrat Light" pitchFamily="34" charset="0"/>
                <a:cs typeface="Montserrat Light" pitchFamily="34" charset="0"/>
              </a:rPr>
              <a:t>02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2923952" y="2715592"/>
            <a:ext cx="2294930" cy="19050"/>
          </a:xfrm>
          <a:prstGeom prst="rect">
            <a:avLst/>
          </a:prstGeom>
          <a:solidFill>
            <a:srgbClr val="888888"/>
          </a:solidFill>
        </p:spPr>
      </p:sp>
      <p:sp>
        <p:nvSpPr>
          <p:cNvPr id="17" name="Text 12"/>
          <p:cNvSpPr/>
          <p:nvPr/>
        </p:nvSpPr>
        <p:spPr>
          <a:xfrm>
            <a:off x="2923952" y="2822302"/>
            <a:ext cx="2294930" cy="2145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Калибровка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2923952" y="3116610"/>
            <a:ext cx="2294930" cy="4326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В боковой панели пользователь </a:t>
            </a:r>
            <a:endParaRPr lang="en-US" sz="1050" dirty="0">
              <a:solidFill>
                <a:srgbClr val="3D3E44"/>
              </a:solidFill>
              <a:latin typeface="Inter Light" pitchFamily="34" charset="0"/>
              <a:ea typeface="Inter Light" pitchFamily="34" charset="0"/>
              <a:cs typeface="Inter Light" pitchFamily="34" charset="0"/>
            </a:endParaRPr>
          </a:p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отмечает навыки через чек-боксы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96119" y="3785220"/>
            <a:ext cx="274662" cy="17159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Montserrat Light" pitchFamily="34" charset="0"/>
                <a:ea typeface="Montserrat Light" pitchFamily="34" charset="0"/>
                <a:cs typeface="Montserrat Light" pitchFamily="34" charset="0"/>
              </a:rPr>
              <a:t>03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95935" y="3928745"/>
            <a:ext cx="1804670" cy="76200"/>
          </a:xfrm>
          <a:prstGeom prst="rect">
            <a:avLst/>
          </a:prstGeom>
          <a:solidFill>
            <a:srgbClr val="888888"/>
          </a:solidFill>
        </p:spPr>
      </p:sp>
      <p:sp>
        <p:nvSpPr>
          <p:cNvPr id="21" name="Text 16"/>
          <p:cNvSpPr/>
          <p:nvPr/>
        </p:nvSpPr>
        <p:spPr>
          <a:xfrm>
            <a:off x="495935" y="4106545"/>
            <a:ext cx="2306955" cy="214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Инференс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499110" y="4410710"/>
            <a:ext cx="2303780" cy="5988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Моментальный вывод экономически</a:t>
            </a:r>
            <a:endParaRPr lang="en-US" sz="1050" dirty="0">
              <a:solidFill>
                <a:srgbClr val="3D3E44"/>
              </a:solidFill>
              <a:latin typeface="Inter Light" pitchFamily="34" charset="0"/>
              <a:ea typeface="Inter Light" pitchFamily="34" charset="0"/>
              <a:cs typeface="Inter Light" pitchFamily="34" charset="0"/>
            </a:endParaRPr>
          </a:p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обоснованного оклада в рублях</a:t>
            </a:r>
            <a:endParaRPr lang="en-US" sz="1050" dirty="0"/>
          </a:p>
        </p:txBody>
      </p:sp>
      <p:pic>
        <p:nvPicPr>
          <p:cNvPr id="4" name="Рисунок 3" descr="2026-07-25 22:54:33.2870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115" y="0"/>
            <a:ext cx="3905885" cy="2347595"/>
          </a:xfrm>
          <a:prstGeom prst="rect">
            <a:avLst/>
          </a:prstGeom>
        </p:spPr>
      </p:pic>
      <p:pic>
        <p:nvPicPr>
          <p:cNvPr id="24" name="Рисунок 23" descr="/private/var/mobile/Containers/Data/Application/BF12C028-76EF-493B-935C-B6546587A231/tmp/insert_image_tmp_dir/2026-07-29 14:09:23.953000.png2026-07-29 14:09:23.95300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218430" y="2512695"/>
            <a:ext cx="3900170" cy="2116455"/>
          </a:xfrm>
          <a:prstGeom prst="rect">
            <a:avLst/>
          </a:prstGeom>
        </p:spPr>
      </p:pic>
      <p:sp>
        <p:nvSpPr>
          <p:cNvPr id="27" name="Shape 11"/>
          <p:cNvSpPr/>
          <p:nvPr/>
        </p:nvSpPr>
        <p:spPr>
          <a:xfrm flipV="1">
            <a:off x="2943225" y="3928745"/>
            <a:ext cx="2294890" cy="76835"/>
          </a:xfrm>
          <a:prstGeom prst="rect">
            <a:avLst/>
          </a:prstGeom>
          <a:solidFill>
            <a:srgbClr val="888888"/>
          </a:solidFill>
        </p:spPr>
      </p:sp>
      <p:sp>
        <p:nvSpPr>
          <p:cNvPr id="31" name="Text 10"/>
          <p:cNvSpPr/>
          <p:nvPr/>
        </p:nvSpPr>
        <p:spPr>
          <a:xfrm>
            <a:off x="2924175" y="3785235"/>
            <a:ext cx="2736850" cy="1809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x-none" altLang="en-US" sz="1050" dirty="0"/>
              <a:t> 04</a:t>
            </a:r>
            <a:endParaRPr lang="x-none" altLang="en-US" sz="1050" dirty="0"/>
          </a:p>
        </p:txBody>
      </p:sp>
      <p:sp>
        <p:nvSpPr>
          <p:cNvPr id="33" name="Text 16"/>
          <p:cNvSpPr/>
          <p:nvPr/>
        </p:nvSpPr>
        <p:spPr>
          <a:xfrm>
            <a:off x="2915920" y="4098290"/>
            <a:ext cx="1871980" cy="3498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x-none" altLang="en-US" sz="1350" dirty="0"/>
              <a:t>Объяснение прогноза</a:t>
            </a:r>
            <a:endParaRPr lang="x-none" altLang="en-US" sz="1350" dirty="0"/>
          </a:p>
        </p:txBody>
      </p:sp>
      <p:sp>
        <p:nvSpPr>
          <p:cNvPr id="34" name="Text 17"/>
          <p:cNvSpPr/>
          <p:nvPr/>
        </p:nvSpPr>
        <p:spPr>
          <a:xfrm>
            <a:off x="2914650" y="4386580"/>
            <a:ext cx="2303780" cy="7118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x-none" altLang="en-US" sz="1050" dirty="0"/>
              <a:t>Вывод графика с детализацией влияния</a:t>
            </a:r>
            <a:endParaRPr lang="x-none" altLang="en-US" sz="1050" dirty="0"/>
          </a:p>
          <a:p>
            <a:pPr marL="0" indent="0" algn="l">
              <a:lnSpc>
                <a:spcPct val="131000"/>
              </a:lnSpc>
              <a:buNone/>
            </a:pPr>
            <a:r>
              <a:rPr lang="x-none" altLang="en-US" sz="1050" dirty="0"/>
              <a:t>признаков на принятие решения</a:t>
            </a:r>
            <a:endParaRPr lang="x-none" alt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 descr="2026-07-26 02:53:31.7870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980" y="36195"/>
            <a:ext cx="2102485" cy="175323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96119" y="512400"/>
            <a:ext cx="8151763" cy="4291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Преимущества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95935" y="1647190"/>
            <a:ext cx="7630160" cy="1813560"/>
          </a:xfrm>
          <a:prstGeom prst="roundRect">
            <a:avLst>
              <a:gd name="adj" fmla="val 4843"/>
            </a:avLst>
          </a:prstGeom>
          <a:solidFill>
            <a:srgbClr val="FFFFFF"/>
          </a:solidFill>
          <a:ln w="19050">
            <a:solidFill>
              <a:srgbClr val="C5C7D2"/>
            </a:solidFill>
            <a:prstDash val="solid"/>
          </a:ln>
        </p:spPr>
        <p:txBody>
          <a:bodyPr/>
          <a:p>
            <a:endParaRPr lang="en-US" altLang="en-US"/>
          </a:p>
        </p:txBody>
      </p:sp>
      <p:sp>
        <p:nvSpPr>
          <p:cNvPr id="5" name="Text 3"/>
          <p:cNvSpPr/>
          <p:nvPr/>
        </p:nvSpPr>
        <p:spPr>
          <a:xfrm>
            <a:off x="566420" y="1718310"/>
            <a:ext cx="3554730" cy="3803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Экономический эффект </a:t>
            </a:r>
            <a:r>
              <a:rPr lang="x-none" alt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на примере банка ВТБ</a:t>
            </a:r>
            <a:endParaRPr lang="x-none" altLang="en-US" sz="1350" dirty="0">
              <a:solidFill>
                <a:srgbClr val="3D3E44"/>
              </a:solidFill>
              <a:latin typeface="Montserrat Medium" pitchFamily="34" charset="0"/>
              <a:ea typeface="Montserrat Medium" pitchFamily="34" charset="0"/>
              <a:cs typeface="Montserrat Medium" pitchFamily="34" charset="0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531495" y="3775075"/>
            <a:ext cx="7886065" cy="11639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p>
            <a:pPr>
              <a:lnSpc>
                <a:spcPct val="100000"/>
              </a:lnSpc>
            </a:pPr>
            <a:r>
              <a:rPr lang="x-none" altLang="en-US" sz="2400"/>
              <a:t>Совокупная экономия банка от внедрения сервиса до </a:t>
            </a:r>
            <a:endParaRPr lang="x-none" altLang="en-US" sz="2400"/>
          </a:p>
          <a:p>
            <a:pPr>
              <a:lnSpc>
                <a:spcPct val="100000"/>
              </a:lnSpc>
            </a:pPr>
            <a:r>
              <a:rPr lang="x-none" altLang="en-US" sz="2400"/>
              <a:t>1,2 млрд. рублей в год.</a:t>
            </a:r>
            <a:endParaRPr lang="x-none" altLang="en-US" sz="2400"/>
          </a:p>
        </p:txBody>
      </p:sp>
      <p:sp>
        <p:nvSpPr>
          <p:cNvPr id="11" name="Text 4"/>
          <p:cNvSpPr/>
          <p:nvPr/>
        </p:nvSpPr>
        <p:spPr>
          <a:xfrm>
            <a:off x="566420" y="1978660"/>
            <a:ext cx="7815580" cy="136461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Сокращение времени аналитики </a:t>
            </a:r>
            <a:endParaRPr lang="en-US" sz="1050" dirty="0">
              <a:solidFill>
                <a:srgbClr val="3D3E44"/>
              </a:solidFill>
              <a:latin typeface="Inter Light" pitchFamily="34" charset="0"/>
              <a:ea typeface="Inter Light" pitchFamily="34" charset="0"/>
              <a:cs typeface="Inter Light" pitchFamily="34" charset="0"/>
            </a:endParaRPr>
          </a:p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навыков в </a:t>
            </a:r>
            <a:r>
              <a:rPr lang="x-none" alt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90</a:t>
            </a: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 раз (</a:t>
            </a:r>
            <a:r>
              <a:rPr lang="x-none" alt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20 секунд</a:t>
            </a: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 против 30 минут) </a:t>
            </a:r>
            <a:endParaRPr lang="en-US" sz="1050" dirty="0">
              <a:solidFill>
                <a:srgbClr val="3D3E44"/>
              </a:solidFill>
              <a:latin typeface="Inter Light" pitchFamily="34" charset="0"/>
              <a:ea typeface="Inter Light" pitchFamily="34" charset="0"/>
              <a:cs typeface="Inter Light" pitchFamily="34" charset="0"/>
            </a:endParaRPr>
          </a:p>
          <a:p>
            <a:pPr marL="0" indent="0" algn="l">
              <a:lnSpc>
                <a:spcPct val="131000"/>
              </a:lnSpc>
              <a:buNone/>
            </a:pPr>
            <a:r>
              <a:rPr lang="x-none" altLang="en-US" sz="1050" dirty="0"/>
              <a:t>Экономия банка при средней ставке рекрутера 450 р/час более 11 млн. рублей в год в сравнении с ручным скорингом.</a:t>
            </a:r>
            <a:endParaRPr lang="x-none" altLang="en-US" sz="1050" dirty="0"/>
          </a:p>
          <a:p>
            <a:pPr marL="0" indent="0" algn="l">
              <a:lnSpc>
                <a:spcPct val="131000"/>
              </a:lnSpc>
              <a:buNone/>
            </a:pPr>
            <a:r>
              <a:rPr lang="x-none" altLang="en-US" sz="1050" dirty="0"/>
              <a:t>До 887 млн. рублей экономии за счет повышения точности по сравнению с HH, ошибки которого провоцируют увольнения сотрудников (нанять и обучить </a:t>
            </a:r>
            <a:endParaRPr lang="x-none" altLang="en-US" sz="1050" dirty="0"/>
          </a:p>
          <a:p>
            <a:pPr marL="0" indent="0" algn="l">
              <a:lnSpc>
                <a:spcPct val="131000"/>
              </a:lnSpc>
              <a:buNone/>
            </a:pPr>
            <a:r>
              <a:rPr lang="x-none" altLang="en-US" sz="1050" dirty="0"/>
              <a:t>нового = 3 оклада)</a:t>
            </a:r>
            <a:endParaRPr lang="x-none" altLang="en-US" sz="1050" dirty="0"/>
          </a:p>
          <a:p>
            <a:pPr marL="0" indent="0" algn="l">
              <a:lnSpc>
                <a:spcPct val="131000"/>
              </a:lnSpc>
              <a:buNone/>
            </a:pPr>
            <a:r>
              <a:rPr lang="x-none" altLang="en-US" sz="1050" dirty="0"/>
              <a:t>До 320 млн. экономия в сравнении со StartExam, за счет повышения лояльности кандидатов к процессу отбора (исключаем долгие и </a:t>
            </a:r>
            <a:endParaRPr lang="x-none" altLang="en-US" sz="1050" dirty="0"/>
          </a:p>
          <a:p>
            <a:pPr marL="0" indent="0" algn="l">
              <a:lnSpc>
                <a:spcPct val="131000"/>
              </a:lnSpc>
              <a:buNone/>
            </a:pPr>
            <a:r>
              <a:rPr lang="x-none" altLang="en-US" sz="1050" dirty="0"/>
              <a:t>длинные тесты)</a:t>
            </a:r>
            <a:endParaRPr lang="x-none" altLang="en-US" sz="1050" dirty="0"/>
          </a:p>
          <a:p>
            <a:pPr marL="0" indent="0" algn="l">
              <a:lnSpc>
                <a:spcPct val="131000"/>
              </a:lnSpc>
              <a:buNone/>
            </a:pPr>
            <a:r>
              <a:rPr lang="x-none" altLang="en-US" sz="1050" dirty="0"/>
              <a:t>До 3,5 млн. экономия за счет отказа от сторонних b2b-платформ (Huntflow)</a:t>
            </a:r>
            <a:endParaRPr lang="x-none" altLang="en-US" sz="1050" dirty="0"/>
          </a:p>
          <a:p>
            <a:pPr marL="0" indent="0" algn="l">
              <a:lnSpc>
                <a:spcPct val="131000"/>
              </a:lnSpc>
              <a:buNone/>
            </a:pPr>
            <a:endParaRPr lang="x-none" altLang="en-US" sz="1050" dirty="0"/>
          </a:p>
          <a:p>
            <a:pPr marL="0" indent="0" algn="l">
              <a:lnSpc>
                <a:spcPct val="131000"/>
              </a:lnSpc>
              <a:buNone/>
            </a:pPr>
            <a:endParaRPr lang="x-none" altLang="en-US" sz="1050" dirty="0"/>
          </a:p>
        </p:txBody>
      </p:sp>
      <p:sp>
        <p:nvSpPr>
          <p:cNvPr id="15" name="Text 1"/>
          <p:cNvSpPr/>
          <p:nvPr/>
        </p:nvSpPr>
        <p:spPr>
          <a:xfrm>
            <a:off x="495935" y="1141095"/>
            <a:ext cx="6483985" cy="4965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Преодоление рыночного компромисса между скоростью </a:t>
            </a:r>
            <a:endParaRPr lang="en-US" sz="2150" dirty="0">
              <a:solidFill>
                <a:srgbClr val="74767D"/>
              </a:solidFill>
              <a:latin typeface="Montserrat Medium" pitchFamily="34" charset="0"/>
              <a:ea typeface="Montserrat Medium" pitchFamily="34" charset="0"/>
              <a:cs typeface="Montserrat Medium" pitchFamily="34" charset="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формирования оффера и точностью оценки</a:t>
            </a:r>
            <a:endParaRPr lang="en-US" sz="2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754" y="951066"/>
            <a:ext cx="8151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x-none" altLang="en-US" sz="2750" dirty="0"/>
              <a:t>Риски </a:t>
            </a:r>
            <a:endParaRPr lang="x-none" alt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495935" y="2329815"/>
            <a:ext cx="1922145" cy="2376170"/>
          </a:xfrm>
          <a:prstGeom prst="roundRect">
            <a:avLst>
              <a:gd name="adj" fmla="val 0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4045" y="2870835"/>
            <a:ext cx="1904365" cy="4178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x-none" altLang="en-US" sz="1350" dirty="0"/>
              <a:t>Зависимость от рынка</a:t>
            </a:r>
            <a:endParaRPr lang="x-none" alt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19125" y="3288665"/>
            <a:ext cx="1782445" cy="120459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x-none" altLang="en-US" sz="1100" dirty="0"/>
              <a:t>Рынок банковского сектора волатилен. </a:t>
            </a:r>
            <a:endParaRPr lang="x-none" alt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x-none" altLang="en-US" sz="1100" dirty="0"/>
              <a:t>Модель, обученная на данных </a:t>
            </a:r>
            <a:endParaRPr lang="x-none" alt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x-none" altLang="en-US" sz="1100" dirty="0"/>
              <a:t>прошлого года, через 6 месяцев будет </a:t>
            </a:r>
            <a:endParaRPr lang="x-none" alt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x-none" altLang="en-US" sz="1100" dirty="0"/>
              <a:t>занижать офферы.</a:t>
            </a:r>
            <a:endParaRPr lang="x-none" alt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x-none" altLang="en-US" sz="1100" dirty="0"/>
              <a:t>Решение: регулярное автоматическое </a:t>
            </a:r>
            <a:endParaRPr lang="x-none" alt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x-none" altLang="en-US" sz="1100" dirty="0"/>
              <a:t>дообучение</a:t>
            </a:r>
            <a:endParaRPr lang="x-none" alt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99055" y="2306955"/>
            <a:ext cx="2015490" cy="2395855"/>
          </a:xfrm>
          <a:prstGeom prst="roundRect">
            <a:avLst>
              <a:gd name="adj" fmla="val 5546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  <p:txBody>
          <a:bodyPr/>
          <a:p>
            <a:endParaRPr lang="en-US" altLang="en-US"/>
          </a:p>
          <a:p>
            <a:endParaRPr lang="en-US" altLang="en-US"/>
          </a:p>
        </p:txBody>
      </p:sp>
      <p:sp>
        <p:nvSpPr>
          <p:cNvPr id="12" name="Text 8"/>
          <p:cNvSpPr/>
          <p:nvPr/>
        </p:nvSpPr>
        <p:spPr>
          <a:xfrm>
            <a:off x="2811145" y="2872740"/>
            <a:ext cx="2329815" cy="6508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x-none" altLang="en-US" sz="1350" dirty="0"/>
              <a:t>Безопасность</a:t>
            </a:r>
            <a:endParaRPr lang="x-none" alt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2811145" y="3288665"/>
            <a:ext cx="1591945" cy="112141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5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x-none" altLang="en-US" sz="1100" dirty="0"/>
              <a:t>Риск утечек персональных данных кандидатов.</a:t>
            </a:r>
            <a:endParaRPr lang="x-none" alt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x-none" altLang="en-US" sz="1100" dirty="0"/>
              <a:t>Решение: развертывание в закрытом контуре</a:t>
            </a:r>
            <a:endParaRPr lang="x-none" alt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x-none" altLang="en-US" sz="1100" dirty="0"/>
              <a:t> банка без выхода в интернет и полная</a:t>
            </a:r>
            <a:endParaRPr lang="x-none" alt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x-none" altLang="en-US" sz="1100" dirty="0"/>
              <a:t> анонимизация (в БД пишем векторные </a:t>
            </a:r>
            <a:endParaRPr lang="x-none" alt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x-none" altLang="en-US" sz="1100" dirty="0"/>
              <a:t>PCA-коэффициенты и булевые </a:t>
            </a:r>
            <a:endParaRPr lang="x-none" alt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x-none" altLang="en-US" sz="1100" dirty="0"/>
              <a:t>флаги).</a:t>
            </a:r>
            <a:endParaRPr lang="x-none" alt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834255" y="2287270"/>
            <a:ext cx="1973580" cy="2437765"/>
          </a:xfrm>
          <a:prstGeom prst="roundRect">
            <a:avLst>
              <a:gd name="adj" fmla="val 5546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980305" y="2872740"/>
            <a:ext cx="1695450" cy="3873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x-none" altLang="en-US" sz="1350" dirty="0"/>
              <a:t>Технологический</a:t>
            </a:r>
            <a:endParaRPr lang="x-none" alt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980305" y="3288665"/>
            <a:ext cx="1749425" cy="130746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6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x-none" altLang="en-US" sz="1100" dirty="0"/>
              <a:t>Риск копирования сервиса и зависимость от </a:t>
            </a:r>
            <a:endParaRPr lang="x-none" alt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x-none" altLang="en-US" sz="1100" dirty="0"/>
              <a:t>инфраструктуры Redis или СУБД PostgreSQL)</a:t>
            </a:r>
            <a:endParaRPr lang="x-none" alt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x-none" altLang="en-US" sz="1100" dirty="0"/>
              <a:t>Решение: Упаковка в отказоустойчивый </a:t>
            </a:r>
            <a:endParaRPr lang="x-none" alt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x-none" altLang="en-US" sz="1100" dirty="0"/>
              <a:t>контейнер Docker с автоматическим рестартом контейнеров, изоляция весов и моделей в </a:t>
            </a:r>
            <a:endParaRPr lang="x-none" alt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x-none" altLang="en-US" sz="1100" dirty="0"/>
              <a:t>закрытом репозитории.</a:t>
            </a:r>
            <a:endParaRPr lang="x-none" altLang="en-US" sz="1100" dirty="0"/>
          </a:p>
        </p:txBody>
      </p:sp>
      <p:sp>
        <p:nvSpPr>
          <p:cNvPr id="11" name="Shape 10"/>
          <p:cNvSpPr/>
          <p:nvPr/>
        </p:nvSpPr>
        <p:spPr>
          <a:xfrm>
            <a:off x="7035165" y="2299335"/>
            <a:ext cx="1973580" cy="2443480"/>
          </a:xfrm>
          <a:prstGeom prst="roundRect">
            <a:avLst>
              <a:gd name="adj" fmla="val 5546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  <p:txBody>
          <a:bodyPr/>
          <a:p>
            <a:endParaRPr lang="en-US" altLang="en-US"/>
          </a:p>
          <a:p>
            <a:endParaRPr lang="x-none" altLang="en-US"/>
          </a:p>
        </p:txBody>
      </p:sp>
      <p:sp>
        <p:nvSpPr>
          <p:cNvPr id="19" name="Text 13"/>
          <p:cNvSpPr/>
          <p:nvPr/>
        </p:nvSpPr>
        <p:spPr>
          <a:xfrm>
            <a:off x="7188200" y="3260090"/>
            <a:ext cx="1755775" cy="10896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6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x-none" altLang="en-US" sz="1100" dirty="0"/>
              <a:t>Саботаж системы рекрутерами/руководителями </a:t>
            </a:r>
            <a:endParaRPr lang="x-none" alt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x-none" altLang="en-US" sz="1100" dirty="0"/>
              <a:t>или слепое доверие ошибкам модели. </a:t>
            </a:r>
            <a:endParaRPr lang="x-none" alt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x-none" altLang="en-US" sz="1100" dirty="0"/>
              <a:t>Решение: сохранение за человеком права </a:t>
            </a:r>
            <a:endParaRPr lang="x-none" alt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x-none" altLang="en-US" sz="1100" dirty="0"/>
              <a:t>принятия решения. Введена интерактивная </a:t>
            </a:r>
            <a:endParaRPr lang="x-none" alt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x-none" altLang="en-US" sz="1100" dirty="0"/>
              <a:t>форма обратной связи в Streamlit для ручной </a:t>
            </a:r>
            <a:endParaRPr lang="x-none" alt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x-none" altLang="en-US" sz="1100" dirty="0"/>
              <a:t>корректировки  оффера.</a:t>
            </a:r>
            <a:endParaRPr lang="x-none" altLang="en-US" sz="1100" dirty="0"/>
          </a:p>
        </p:txBody>
      </p:sp>
      <p:sp>
        <p:nvSpPr>
          <p:cNvPr id="20" name="Text 12"/>
          <p:cNvSpPr/>
          <p:nvPr/>
        </p:nvSpPr>
        <p:spPr>
          <a:xfrm>
            <a:off x="7174230" y="2870835"/>
            <a:ext cx="1695450" cy="3873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x-none" altLang="en-US" sz="1350" dirty="0"/>
              <a:t>Человеческий</a:t>
            </a:r>
            <a:endParaRPr lang="x-none" alt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78756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Итоги реализации и дорожная карта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78446"/>
            <a:ext cx="8151763" cy="70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Стабильный </a:t>
            </a:r>
            <a:r>
              <a:rPr lang="x-none" altLang="en-US" sz="2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сервис</a:t>
            </a:r>
            <a:r>
              <a:rPr lang="en-US" sz="2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, готовый к развертыванию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96119" y="2441525"/>
            <a:ext cx="390294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Что сделано и работает: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804740"/>
            <a:ext cx="3902943" cy="10559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Контейнеризация в Docker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Асинхронный бэкенд на FastAPI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x-none" alt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К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лиент на Streamlit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Модель сериализована в JSON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2441525"/>
            <a:ext cx="390294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Дорожная карта развития: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804740"/>
            <a:ext cx="3902943" cy="14104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Интеграция LLM (NER-модели): Для точечного </a:t>
            </a:r>
            <a:endParaRPr lang="en-US" sz="1100" dirty="0">
              <a:solidFill>
                <a:srgbClr val="3D3E44"/>
              </a:solidFill>
              <a:latin typeface="Inter Light" pitchFamily="34" charset="0"/>
              <a:ea typeface="Inter Light" pitchFamily="34" charset="0"/>
              <a:cs typeface="Inter Light" pitchFamily="34" charset="0"/>
            </a:endParaRPr>
          </a:p>
          <a:p>
            <a:pPr indent="0" algn="l">
              <a:lnSpc>
                <a:spcPct val="133000"/>
              </a:lnSpc>
              <a:buSzPct val="100000"/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распознавания ИТ-компетенций и снижения MAPE в </a:t>
            </a:r>
            <a:endParaRPr lang="en-US" sz="1100" dirty="0">
              <a:solidFill>
                <a:srgbClr val="3D3E44"/>
              </a:solidFill>
              <a:latin typeface="Inter Light" pitchFamily="34" charset="0"/>
              <a:ea typeface="Inter Light" pitchFamily="34" charset="0"/>
              <a:cs typeface="Inter Light" pitchFamily="34" charset="0"/>
            </a:endParaRPr>
          </a:p>
          <a:p>
            <a:pPr indent="0" algn="l">
              <a:lnSpc>
                <a:spcPct val="133000"/>
              </a:lnSpc>
              <a:buSzPct val="100000"/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волатильных классах 24 (4</a:t>
            </a:r>
            <a:r>
              <a:rPr lang="x-none" alt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0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%), 25 (5</a:t>
            </a:r>
            <a:r>
              <a:rPr lang="x-none" alt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9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%) и 31 (5</a:t>
            </a:r>
            <a:r>
              <a:rPr lang="x-none" alt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5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%) до</a:t>
            </a:r>
            <a:r>
              <a:rPr lang="x-none" alt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          ц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елевых </a:t>
            </a:r>
            <a:r>
              <a:rPr lang="x-none" alt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25%</a:t>
            </a:r>
            <a:endParaRPr lang="x-none" altLang="en-US" sz="1100" dirty="0">
              <a:solidFill>
                <a:srgbClr val="3D3E44"/>
              </a:solidFill>
              <a:latin typeface="Inter Light" pitchFamily="34" charset="0"/>
              <a:ea typeface="Inter Light" pitchFamily="34" charset="0"/>
              <a:cs typeface="Inter Light" pitchFamily="34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x-none" altLang="en-US" sz="1100" dirty="0"/>
              <a:t>Увеличение выборки редких вакансий (другие площадки)</a:t>
            </a:r>
            <a:endParaRPr lang="x-none" alt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5204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0"/>
                <a:cs typeface="Montserrat Medium" pitchFamily="34" charset="0"/>
              </a:rPr>
              <a:t>Контакты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2591619" y="1238394"/>
            <a:ext cx="8608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Контактная информация: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591619" y="2043142"/>
            <a:ext cx="8151763" cy="10559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Тарасов Станислав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8(904)2179485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Email: stas.tarasov.91@list.ru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0"/>
                <a:cs typeface="Inter Light" pitchFamily="34" charset="0"/>
              </a:rPr>
              <a:t>Репозиторий проекта: </a:t>
            </a:r>
            <a:r>
              <a:rPr lang="en-US" sz="1100" b="1" u="sng" dirty="0">
                <a:solidFill>
                  <a:srgbClr val="6E809C"/>
                </a:solidFill>
                <a:latin typeface="Inter Bold" pitchFamily="34" charset="0"/>
                <a:ea typeface="Inter Bold" pitchFamily="34" charset="0"/>
                <a:cs typeface="Inter Bold" pitchFamily="34" charset="0"/>
              </a:rPr>
              <a:t>https://github.com/stason1991/My-First-Data-Project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8919" y="2458447"/>
            <a:ext cx="8608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6" name="Рисунок 5" descr="2026-07-25 23:05:20.0740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595" y="1238250"/>
            <a:ext cx="2073910" cy="2667000"/>
          </a:xfrm>
          <a:prstGeom prst="rect">
            <a:avLst/>
          </a:prstGeom>
        </p:spPr>
      </p:pic>
      <p:pic>
        <p:nvPicPr>
          <p:cNvPr id="7" name="Рисунок 6" descr="/private/var/mobile/Containers/Data/Application/BF12C028-76EF-493B-935C-B6546587A231/tmp/insert_image_tmp_dir/2026-07-29 14:32:54.208000.png2026-07-29 14:32:54.20800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979285" y="808355"/>
            <a:ext cx="1668145" cy="174879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TEMPLATE_CATEGORY" val="preset"/>
  <p:tag name="KSO_WM_TEMPLATE_INDEX" val="11"/>
  <p:tag name="KSO_WM_UNIT_TYPE" val="a"/>
  <p:tag name="KSO_WM_UNIT_INDEX" val="1"/>
  <p:tag name="KSO_WM_UNIT_ID" val="256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" val=""/>
  <p:tag name="KSO_WM_BEAUTIFY_FLAG" val="#wm#"/>
  <p:tag name="KSO_WM_TAG_VERSION" val="1.0"/>
</p:tagLst>
</file>

<file path=ppt/tags/tag2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preset11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3.xml><?xml version="1.0" encoding="utf-8"?>
<p:tagLst xmlns:p="http://schemas.openxmlformats.org/presentationml/2006/main">
  <p:tag name="KSO_WM_TEMPLATE_CATEGORY" val="preset"/>
  <p:tag name="KSO_WM_TEMPLATE_INDEX" val="11"/>
  <p:tag name="KSO_WM_UNIT_TYPE" val="a"/>
  <p:tag name="KSO_WM_UNIT_INDEX" val="1"/>
  <p:tag name="KSO_WM_UNIT_ID" val="256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" val=""/>
  <p:tag name="KSO_WM_BEAUTIFY_FLAG" val="#wm#"/>
  <p:tag name="KSO_WM_TAG_VERSION" val="1.0"/>
</p:tagLst>
</file>

<file path=ppt/tags/tag4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preset11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6E809C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6E809C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/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SimSun</vt:lpstr>
      <vt:lpstr>Wingdings</vt:lpstr>
      <vt:lpstr>Montserrat Medium</vt:lpstr>
      <vt:lpstr>Inter Light</vt:lpstr>
      <vt:lpstr>Inter Bold</vt:lpstr>
      <vt:lpstr>PPMori</vt:lpstr>
      <vt:lpstr>Montserrat Light</vt:lpstr>
      <vt:lpstr>Calibri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Данные и результаты EDA</vt:lpstr>
      <vt:lpstr>Данные и результаты EDA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iPhone</cp:lastModifiedBy>
  <cp:revision>1</cp:revision>
  <dcterms:created xsi:type="dcterms:W3CDTF">1900-01-01T00:00:00Z</dcterms:created>
  <dcterms:modified xsi:type="dcterms:W3CDTF">1900-01-01T00:00:00Z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A86C14DAE4D86534F7E9646AB14E0B88_32</vt:lpwstr>
  </property>
  <property fmtid="{D5CDD505-2E9C-101B-9397-08002B2CF9AE}" pid="3" name="KSOProductBuildVer">
    <vt:lpwstr>2052-26.7.0</vt:lpwstr>
  </property>
</Properties>
</file>